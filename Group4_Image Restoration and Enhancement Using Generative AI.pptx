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62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2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674" y="4192543"/>
            <a:ext cx="858981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G</a:t>
            </a:r>
            <a:r>
              <a:rPr lang="en-GB" b="1" dirty="0" smtClean="0">
                <a:solidFill>
                  <a:schemeClr val="accent2"/>
                </a:solidFill>
              </a:rPr>
              <a:t>roup 4</a:t>
            </a:r>
            <a:endParaRPr lang="en-GB" b="1" dirty="0" smtClean="0">
              <a:solidFill>
                <a:schemeClr val="accent2"/>
              </a:solidFill>
            </a:endParaRPr>
          </a:p>
          <a:p>
            <a:endParaRPr lang="en-GB" b="1" dirty="0">
              <a:solidFill>
                <a:schemeClr val="accent2"/>
              </a:solidFill>
            </a:endParaRPr>
          </a:p>
          <a:p>
            <a:r>
              <a:rPr lang="en-GB" sz="2400" b="1" dirty="0" smtClean="0">
                <a:solidFill>
                  <a:schemeClr val="accent2"/>
                </a:solidFill>
              </a:rPr>
              <a:t>Project Name </a:t>
            </a:r>
            <a:r>
              <a:rPr lang="en-GB" b="1" dirty="0">
                <a:solidFill>
                  <a:schemeClr val="accent2"/>
                </a:solidFill>
              </a:rPr>
              <a:t>: </a:t>
            </a:r>
            <a:r>
              <a:rPr lang="en-US" b="1" dirty="0">
                <a:solidFill>
                  <a:schemeClr val="accent2"/>
                </a:solidFill>
              </a:rPr>
              <a:t>Image Restoration and </a:t>
            </a:r>
            <a:r>
              <a:rPr lang="en-US" b="1" dirty="0">
                <a:solidFill>
                  <a:schemeClr val="accent2"/>
                </a:solidFill>
              </a:rPr>
              <a:t>Enhancement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Using </a:t>
            </a:r>
            <a:r>
              <a:rPr lang="en-US" b="1" dirty="0">
                <a:solidFill>
                  <a:schemeClr val="accent2"/>
                </a:solidFill>
              </a:rPr>
              <a:t>Generative AI Models</a:t>
            </a:r>
          </a:p>
          <a:p>
            <a:endParaRPr lang="en-GB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Team members – 1) Nitish Bhardwaj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                             2) </a:t>
            </a:r>
            <a:r>
              <a:rPr lang="en-US" b="1" dirty="0">
                <a:solidFill>
                  <a:schemeClr val="accent2"/>
                </a:solidFill>
              </a:rPr>
              <a:t>Syed Ahmed Ali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0461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0" y="2844418"/>
            <a:ext cx="62345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Final Project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15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4137" y="532120"/>
            <a:ext cx="7929154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Agenda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 smtClean="0"/>
              <a:t>Problem Statement</a:t>
            </a:r>
          </a:p>
          <a:p>
            <a:pPr marL="342900" indent="-342900">
              <a:buAutoNum type="arabicPeriod"/>
            </a:pPr>
            <a:r>
              <a:rPr lang="en-US" dirty="0" smtClean="0"/>
              <a:t>System Architecture</a:t>
            </a:r>
          </a:p>
          <a:p>
            <a:r>
              <a:rPr lang="en-US" dirty="0"/>
              <a:t>3</a:t>
            </a:r>
            <a:r>
              <a:rPr lang="en-US" dirty="0" smtClean="0"/>
              <a:t>.   Methodology </a:t>
            </a:r>
            <a:r>
              <a:rPr lang="en-US" dirty="0"/>
              <a:t>(4 Tasks)</a:t>
            </a:r>
          </a:p>
          <a:p>
            <a:r>
              <a:rPr lang="en-US" dirty="0" smtClean="0"/>
              <a:t>4.   Experimental </a:t>
            </a:r>
            <a:r>
              <a:rPr lang="en-US" dirty="0"/>
              <a:t>Setup</a:t>
            </a:r>
          </a:p>
          <a:p>
            <a:r>
              <a:rPr lang="en-US" dirty="0" smtClean="0"/>
              <a:t>5.   Results </a:t>
            </a:r>
            <a:r>
              <a:rPr lang="en-US" dirty="0"/>
              <a:t>&amp; Analysis</a:t>
            </a:r>
          </a:p>
          <a:p>
            <a:r>
              <a:rPr lang="en-US" dirty="0" smtClean="0"/>
              <a:t>6.   Conclusion </a:t>
            </a:r>
            <a:r>
              <a:rPr lang="en-US" dirty="0"/>
              <a:t>&amp; Future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02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5576" y="611736"/>
            <a:ext cx="815122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Problem Statement</a:t>
            </a:r>
          </a:p>
          <a:p>
            <a:endParaRPr lang="en-US" dirty="0"/>
          </a:p>
          <a:p>
            <a:r>
              <a:rPr lang="en-US" dirty="0"/>
              <a:t>Digitized photographs and legacy archives suffer from:</a:t>
            </a:r>
          </a:p>
          <a:p>
            <a:endParaRPr lang="en-US" dirty="0"/>
          </a:p>
          <a:p>
            <a:r>
              <a:rPr lang="en-US" dirty="0"/>
              <a:t>• Noise (sensor noise, compression artifacts)</a:t>
            </a:r>
          </a:p>
          <a:p>
            <a:r>
              <a:rPr lang="en-US" dirty="0"/>
              <a:t>• Low Resolution (old equipment, low DPI scans)</a:t>
            </a:r>
          </a:p>
          <a:p>
            <a:r>
              <a:rPr lang="en-US" dirty="0"/>
              <a:t>• Loss of Color (B&amp;W photos, faded images)</a:t>
            </a:r>
          </a:p>
          <a:p>
            <a:r>
              <a:rPr lang="en-US" dirty="0"/>
              <a:t>• Physical Damage (scratches, tears, missing regions)</a:t>
            </a:r>
          </a:p>
          <a:p>
            <a:endParaRPr lang="en-US" dirty="0"/>
          </a:p>
          <a:p>
            <a:r>
              <a:rPr lang="en-US" dirty="0"/>
              <a:t>Traditional Approaches (Median Filter, </a:t>
            </a:r>
            <a:r>
              <a:rPr lang="en-US" dirty="0" err="1"/>
              <a:t>Bicubic</a:t>
            </a:r>
            <a:r>
              <a:rPr lang="en-US" dirty="0"/>
              <a:t> Interpolation):</a:t>
            </a:r>
          </a:p>
          <a:p>
            <a:r>
              <a:rPr lang="en-US" dirty="0"/>
              <a:t>❌ Limited high-frequency detail recovery</a:t>
            </a:r>
          </a:p>
          <a:p>
            <a:r>
              <a:rPr lang="en-US" dirty="0"/>
              <a:t>❌ Cannot seamlessly fill large damaged areas</a:t>
            </a:r>
          </a:p>
          <a:p>
            <a:r>
              <a:rPr lang="en-US" dirty="0"/>
              <a:t>❌ Pixel-by-pixel processing, no semantic understanding</a:t>
            </a:r>
          </a:p>
          <a:p>
            <a:endParaRPr lang="en-US" dirty="0"/>
          </a:p>
          <a:p>
            <a:r>
              <a:rPr lang="en-US" dirty="0"/>
              <a:t>Solution: Generative Deep Learning Models ✓</a:t>
            </a:r>
          </a:p>
        </p:txBody>
      </p:sp>
    </p:spTree>
    <p:extLst>
      <p:ext uri="{BB962C8B-B14F-4D97-AF65-F5344CB8AC3E}">
        <p14:creationId xmlns:p14="http://schemas.microsoft.com/office/powerpoint/2010/main" val="206742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73828" y="807678"/>
            <a:ext cx="8373291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System Architecture</a:t>
            </a:r>
          </a:p>
          <a:p>
            <a:endParaRPr lang="en-US" dirty="0"/>
          </a:p>
          <a:p>
            <a:r>
              <a:rPr lang="en-US" dirty="0"/>
              <a:t>                    Input Image</a:t>
            </a:r>
          </a:p>
          <a:p>
            <a:r>
              <a:rPr lang="en-US" dirty="0"/>
              <a:t>                         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</a:t>
            </a:r>
            <a:r>
              <a:rPr lang="en-US" dirty="0" smtClean="0"/>
              <a:t>    </a:t>
            </a:r>
            <a:r>
              <a:rPr lang="en-US" dirty="0"/>
              <a:t>Task Selection (Choose 1)    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</a:t>
            </a:r>
            <a:r>
              <a:rPr lang="en-US" dirty="0" smtClean="0"/>
              <a:t> </a:t>
            </a:r>
            <a:r>
              <a:rPr lang="en-US" dirty="0" err="1" smtClean="0"/>
              <a:t>Denoising</a:t>
            </a:r>
            <a:r>
              <a:rPr lang="en-US" dirty="0" smtClean="0"/>
              <a:t> </a:t>
            </a:r>
            <a:r>
              <a:rPr lang="en-US" dirty="0"/>
              <a:t>(SD img2img)        </a:t>
            </a:r>
          </a:p>
          <a:p>
            <a:r>
              <a:rPr lang="en-US" dirty="0"/>
              <a:t>        </a:t>
            </a:r>
            <a:r>
              <a:rPr lang="en-US" dirty="0" smtClean="0"/>
              <a:t>Super-Resolution </a:t>
            </a:r>
            <a:r>
              <a:rPr lang="en-US" dirty="0"/>
              <a:t>(ESRGAN)     </a:t>
            </a:r>
          </a:p>
          <a:p>
            <a:r>
              <a:rPr lang="en-US" dirty="0"/>
              <a:t>        </a:t>
            </a:r>
            <a:r>
              <a:rPr lang="en-US" dirty="0" smtClean="0"/>
              <a:t> Colorization </a:t>
            </a:r>
            <a:r>
              <a:rPr lang="en-US" dirty="0"/>
              <a:t>(SD img2img)    </a:t>
            </a:r>
          </a:p>
          <a:p>
            <a:r>
              <a:rPr lang="en-US" dirty="0"/>
              <a:t>        </a:t>
            </a:r>
            <a:r>
              <a:rPr lang="en-US" dirty="0" smtClean="0"/>
              <a:t> </a:t>
            </a:r>
            <a:r>
              <a:rPr lang="en-US" dirty="0" err="1" smtClean="0"/>
              <a:t>Inpainting</a:t>
            </a:r>
            <a:r>
              <a:rPr lang="en-US" dirty="0" smtClean="0"/>
              <a:t> </a:t>
            </a:r>
            <a:r>
              <a:rPr lang="en-US" dirty="0"/>
              <a:t>(SD </a:t>
            </a:r>
            <a:r>
              <a:rPr lang="en-US" dirty="0" err="1"/>
              <a:t>Inpaint</a:t>
            </a:r>
            <a:r>
              <a:rPr lang="en-US" dirty="0"/>
              <a:t>)       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                 </a:t>
            </a:r>
          </a:p>
          <a:p>
            <a:r>
              <a:rPr lang="en-US" dirty="0"/>
              <a:t>                 Enhanced Output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tasks use Hugging Face </a:t>
            </a:r>
            <a:r>
              <a:rPr lang="en-US" dirty="0" err="1"/>
              <a:t>pretrained</a:t>
            </a:r>
            <a:r>
              <a:rPr lang="en-US" dirty="0"/>
              <a:t>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training from scratch required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585063" y="1894114"/>
            <a:ext cx="0" cy="431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598125" y="4145279"/>
            <a:ext cx="0" cy="431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61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257" y="335846"/>
            <a:ext cx="8582297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Denoising</a:t>
            </a:r>
            <a:r>
              <a:rPr lang="en-US" sz="2800" dirty="0"/>
              <a:t>: Remove Noise, Preserve Quality</a:t>
            </a:r>
          </a:p>
          <a:p>
            <a:endParaRPr lang="en-US" dirty="0"/>
          </a:p>
          <a:p>
            <a:r>
              <a:rPr lang="en-US" dirty="0"/>
              <a:t>Model: Stable Diffusion v1-5 (img2img)</a:t>
            </a:r>
          </a:p>
          <a:p>
            <a:endParaRPr lang="en-US" dirty="0"/>
          </a:p>
          <a:p>
            <a:r>
              <a:rPr lang="en-US" dirty="0"/>
              <a:t>Parameters:</a:t>
            </a:r>
          </a:p>
          <a:p>
            <a:r>
              <a:rPr lang="en-US" dirty="0"/>
              <a:t>• Prompt: "clean detailed realistic photo, no noise"</a:t>
            </a:r>
          </a:p>
          <a:p>
            <a:r>
              <a:rPr lang="en-US" dirty="0"/>
              <a:t>• Strength: 0.4 (moderate input influence)</a:t>
            </a:r>
          </a:p>
          <a:p>
            <a:r>
              <a:rPr lang="en-US" dirty="0"/>
              <a:t>• Guidance Scale: 7.5</a:t>
            </a:r>
          </a:p>
          <a:p>
            <a:r>
              <a:rPr lang="en-US" dirty="0"/>
              <a:t>• Steps: 30</a:t>
            </a:r>
          </a:p>
          <a:p>
            <a:endParaRPr lang="en-US" dirty="0"/>
          </a:p>
          <a:p>
            <a:r>
              <a:rPr lang="en-US" dirty="0"/>
              <a:t>How it works:</a:t>
            </a:r>
          </a:p>
          <a:p>
            <a:r>
              <a:rPr lang="en-US" dirty="0"/>
              <a:t>1. Takes noisy image as input</a:t>
            </a:r>
          </a:p>
          <a:p>
            <a:r>
              <a:rPr lang="en-US" dirty="0"/>
              <a:t>2. Iteratively </a:t>
            </a:r>
            <a:r>
              <a:rPr lang="en-US" dirty="0" err="1"/>
              <a:t>denoises</a:t>
            </a:r>
            <a:r>
              <a:rPr lang="en-US" dirty="0"/>
              <a:t> using diffusion </a:t>
            </a:r>
            <a:endParaRPr lang="en-US" dirty="0" smtClean="0"/>
          </a:p>
          <a:p>
            <a:r>
              <a:rPr lang="en-US" dirty="0" smtClean="0"/>
              <a:t>process</a:t>
            </a:r>
            <a:endParaRPr lang="en-US" dirty="0"/>
          </a:p>
          <a:p>
            <a:r>
              <a:rPr lang="en-US" dirty="0"/>
              <a:t>3. Guided by semantic prompt</a:t>
            </a:r>
          </a:p>
          <a:p>
            <a:r>
              <a:rPr lang="en-US" dirty="0"/>
              <a:t>4. Outputs clean, sharp image</a:t>
            </a:r>
          </a:p>
          <a:p>
            <a:endParaRPr lang="en-US" dirty="0"/>
          </a:p>
          <a:p>
            <a:r>
              <a:rPr lang="en-US" dirty="0"/>
              <a:t>Why Generative?</a:t>
            </a:r>
          </a:p>
          <a:p>
            <a:r>
              <a:rPr lang="en-US" dirty="0"/>
              <a:t>→ Understands what "clean leaf" should look like</a:t>
            </a:r>
          </a:p>
          <a:p>
            <a:r>
              <a:rPr lang="en-US" dirty="0"/>
              <a:t>→ Not pixel-accurate, but semantically plausible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354" y="2447787"/>
            <a:ext cx="5029199" cy="288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5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383" y="477024"/>
            <a:ext cx="863454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Super-Resolution: 4× Upscaling</a:t>
            </a:r>
          </a:p>
          <a:p>
            <a:endParaRPr lang="en-US" dirty="0"/>
          </a:p>
          <a:p>
            <a:r>
              <a:rPr lang="en-US" dirty="0"/>
              <a:t>Model: ESRGAN (Enhanced Super-Resolution GAN)</a:t>
            </a:r>
          </a:p>
          <a:p>
            <a:endParaRPr lang="en-US" dirty="0"/>
          </a:p>
          <a:p>
            <a:r>
              <a:rPr lang="en-US" dirty="0"/>
              <a:t>Process:</a:t>
            </a:r>
          </a:p>
          <a:p>
            <a:r>
              <a:rPr lang="en-US" dirty="0"/>
              <a:t>Input: 64×64 → Output: 256×256 (4× upscale)</a:t>
            </a:r>
          </a:p>
          <a:p>
            <a:endParaRPr lang="en-US" dirty="0"/>
          </a:p>
          <a:p>
            <a:r>
              <a:rPr lang="en-US" dirty="0"/>
              <a:t>How it works:</a:t>
            </a:r>
          </a:p>
          <a:p>
            <a:r>
              <a:rPr lang="en-US" dirty="0"/>
              <a:t>1. Receives low-resolution image</a:t>
            </a:r>
          </a:p>
          <a:p>
            <a:r>
              <a:rPr lang="en-US" dirty="0"/>
              <a:t>2. GAN synthesizes high-frequency </a:t>
            </a:r>
            <a:endParaRPr lang="en-US" dirty="0" smtClean="0"/>
          </a:p>
          <a:p>
            <a:r>
              <a:rPr lang="en-US" dirty="0" smtClean="0"/>
              <a:t>details</a:t>
            </a:r>
            <a:endParaRPr lang="en-US" dirty="0"/>
          </a:p>
          <a:p>
            <a:r>
              <a:rPr lang="en-US" dirty="0"/>
              <a:t>3. Adds realistic textures and edges</a:t>
            </a:r>
          </a:p>
          <a:p>
            <a:r>
              <a:rPr lang="en-US" dirty="0"/>
              <a:t>4. Maintains semantic content</a:t>
            </a:r>
          </a:p>
          <a:p>
            <a:endParaRPr lang="en-US" dirty="0"/>
          </a:p>
          <a:p>
            <a:r>
              <a:rPr lang="en-US" dirty="0"/>
              <a:t>Benefits:</a:t>
            </a:r>
          </a:p>
          <a:p>
            <a:r>
              <a:rPr lang="en-US" dirty="0"/>
              <a:t>✓ Sharp, detailed output</a:t>
            </a:r>
          </a:p>
          <a:p>
            <a:r>
              <a:rPr lang="en-US" dirty="0"/>
              <a:t>✓ Hallucination of realistic features</a:t>
            </a:r>
          </a:p>
          <a:p>
            <a:r>
              <a:rPr lang="en-US" dirty="0"/>
              <a:t>✓ Better than </a:t>
            </a:r>
            <a:r>
              <a:rPr lang="en-US" dirty="0" err="1"/>
              <a:t>bicubic</a:t>
            </a:r>
            <a:r>
              <a:rPr lang="en-US" dirty="0"/>
              <a:t> interpolation</a:t>
            </a:r>
          </a:p>
          <a:p>
            <a:r>
              <a:rPr lang="en-US" dirty="0"/>
              <a:t>✓ Fast inference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234" y="2603459"/>
            <a:ext cx="4816818" cy="34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6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131" y="612845"/>
            <a:ext cx="8399418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Colorization: Add Color to Grayscale</a:t>
            </a:r>
          </a:p>
          <a:p>
            <a:endParaRPr lang="en-US" dirty="0"/>
          </a:p>
          <a:p>
            <a:r>
              <a:rPr lang="en-US" dirty="0"/>
              <a:t>Model: Stable Diffusion v1-5 (img2img)</a:t>
            </a:r>
          </a:p>
          <a:p>
            <a:endParaRPr lang="en-US" dirty="0"/>
          </a:p>
          <a:p>
            <a:r>
              <a:rPr lang="en-US" dirty="0"/>
              <a:t>Parameters:</a:t>
            </a:r>
          </a:p>
          <a:p>
            <a:r>
              <a:rPr lang="en-US" dirty="0"/>
              <a:t>• Prompt: "vibrant realistic color photograph"</a:t>
            </a:r>
          </a:p>
          <a:p>
            <a:r>
              <a:rPr lang="en-US" dirty="0"/>
              <a:t>• Strength: 0.65 (creative freedom)</a:t>
            </a:r>
          </a:p>
          <a:p>
            <a:r>
              <a:rPr lang="en-US" dirty="0"/>
              <a:t>• Guidance Scale: 8.0</a:t>
            </a:r>
          </a:p>
          <a:p>
            <a:r>
              <a:rPr lang="en-US" dirty="0"/>
              <a:t>• Steps: 40</a:t>
            </a:r>
          </a:p>
          <a:p>
            <a:endParaRPr lang="en-US" dirty="0"/>
          </a:p>
          <a:p>
            <a:r>
              <a:rPr lang="en-US" dirty="0"/>
              <a:t>How it works:</a:t>
            </a:r>
          </a:p>
          <a:p>
            <a:r>
              <a:rPr lang="en-US" dirty="0"/>
              <a:t>1. Convert image to grayscale RGB</a:t>
            </a:r>
          </a:p>
          <a:p>
            <a:r>
              <a:rPr lang="en-US" dirty="0"/>
              <a:t>2. Condition diffusion on "color photo" </a:t>
            </a:r>
            <a:endParaRPr lang="en-US" dirty="0" smtClean="0"/>
          </a:p>
          <a:p>
            <a:r>
              <a:rPr lang="en-US" dirty="0" smtClean="0"/>
              <a:t>prompt</a:t>
            </a:r>
            <a:endParaRPr lang="en-US" dirty="0"/>
          </a:p>
          <a:p>
            <a:r>
              <a:rPr lang="en-US" dirty="0"/>
              <a:t>3. Synthesize plausible colors</a:t>
            </a:r>
          </a:p>
          <a:p>
            <a:r>
              <a:rPr lang="en-US" dirty="0"/>
              <a:t>4. Output colorized image</a:t>
            </a:r>
          </a:p>
          <a:p>
            <a:endParaRPr lang="en-US" dirty="0"/>
          </a:p>
          <a:p>
            <a:r>
              <a:rPr lang="en-US" dirty="0"/>
              <a:t>Results:</a:t>
            </a:r>
          </a:p>
          <a:p>
            <a:r>
              <a:rPr lang="en-US" dirty="0"/>
              <a:t>→ Natural green tones for leaves</a:t>
            </a:r>
          </a:p>
          <a:p>
            <a:r>
              <a:rPr lang="en-US" dirty="0"/>
              <a:t>→ Consistent color coherence</a:t>
            </a:r>
          </a:p>
          <a:p>
            <a:r>
              <a:rPr lang="en-US" dirty="0"/>
              <a:t>→ Occasional color bleeding on edges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983" y="2890411"/>
            <a:ext cx="4689566" cy="354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8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755" y="403840"/>
            <a:ext cx="8765176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Inpainting</a:t>
            </a:r>
            <a:r>
              <a:rPr lang="en-US" sz="2800" dirty="0"/>
              <a:t>: Fill Missing Regions</a:t>
            </a:r>
          </a:p>
          <a:p>
            <a:endParaRPr lang="en-US" dirty="0"/>
          </a:p>
          <a:p>
            <a:r>
              <a:rPr lang="en-US" dirty="0"/>
              <a:t>Model: Stable Diffusion </a:t>
            </a:r>
            <a:r>
              <a:rPr lang="en-US" dirty="0" err="1"/>
              <a:t>Inpainting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Input:</a:t>
            </a:r>
          </a:p>
          <a:p>
            <a:r>
              <a:rPr lang="en-US" dirty="0"/>
              <a:t>• RGB image + Binary mask</a:t>
            </a:r>
          </a:p>
          <a:p>
            <a:r>
              <a:rPr lang="en-US" dirty="0"/>
              <a:t>  (white = fill, black = preserve)</a:t>
            </a:r>
          </a:p>
          <a:p>
            <a:endParaRPr lang="en-US" dirty="0"/>
          </a:p>
          <a:p>
            <a:r>
              <a:rPr lang="en-US" dirty="0"/>
              <a:t>Parameters:</a:t>
            </a:r>
          </a:p>
          <a:p>
            <a:r>
              <a:rPr lang="en-US" dirty="0"/>
              <a:t>• Prompt: "restore </a:t>
            </a:r>
            <a:r>
              <a:rPr lang="en-US" dirty="0" smtClean="0"/>
              <a:t>damaged</a:t>
            </a:r>
          </a:p>
          <a:p>
            <a:r>
              <a:rPr lang="en-US" dirty="0" smtClean="0"/>
              <a:t> </a:t>
            </a:r>
            <a:r>
              <a:rPr lang="en-US" dirty="0"/>
              <a:t>photo, realistic, high quality"</a:t>
            </a:r>
          </a:p>
          <a:p>
            <a:r>
              <a:rPr lang="en-US" dirty="0"/>
              <a:t>• Strength: 0.75</a:t>
            </a:r>
          </a:p>
          <a:p>
            <a:r>
              <a:rPr lang="en-US" dirty="0"/>
              <a:t>• Guidance Scale: 7.5</a:t>
            </a:r>
          </a:p>
          <a:p>
            <a:r>
              <a:rPr lang="en-US" dirty="0"/>
              <a:t>• Steps: 40</a:t>
            </a:r>
          </a:p>
          <a:p>
            <a:endParaRPr lang="en-US" dirty="0"/>
          </a:p>
          <a:p>
            <a:r>
              <a:rPr lang="en-US" dirty="0"/>
              <a:t>How it works:</a:t>
            </a:r>
          </a:p>
          <a:p>
            <a:r>
              <a:rPr lang="en-US" dirty="0"/>
              <a:t>1. Accepts image + mask</a:t>
            </a:r>
          </a:p>
          <a:p>
            <a:r>
              <a:rPr lang="en-US" dirty="0"/>
              <a:t>2. Fills masked regions conditioned on context</a:t>
            </a:r>
          </a:p>
          <a:p>
            <a:r>
              <a:rPr lang="en-US" dirty="0"/>
              <a:t>3. Seamless blending with surrounding area</a:t>
            </a:r>
          </a:p>
          <a:p>
            <a:r>
              <a:rPr lang="en-US" dirty="0"/>
              <a:t>4. Outputs restored image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712" y="2281300"/>
            <a:ext cx="5868219" cy="30007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811" y="561195"/>
            <a:ext cx="1445803" cy="1409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2948" y="191863"/>
            <a:ext cx="1132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Mask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27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508" y="531955"/>
            <a:ext cx="8647612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Integration: Single Python Function</a:t>
            </a:r>
          </a:p>
          <a:p>
            <a:endParaRPr lang="en-US" dirty="0"/>
          </a:p>
          <a:p>
            <a:r>
              <a:rPr lang="en-US" dirty="0" err="1"/>
              <a:t>run_task_on_uploaded_image</a:t>
            </a:r>
            <a:r>
              <a:rPr lang="en-US" dirty="0"/>
              <a:t>(task, </a:t>
            </a:r>
            <a:r>
              <a:rPr lang="en-US" dirty="0" err="1"/>
              <a:t>use_mask</a:t>
            </a:r>
            <a:r>
              <a:rPr lang="en-US" dirty="0"/>
              <a:t>=False)</a:t>
            </a:r>
          </a:p>
          <a:p>
            <a:endParaRPr lang="en-US" dirty="0"/>
          </a:p>
          <a:p>
            <a:r>
              <a:rPr lang="en-US" dirty="0"/>
              <a:t>User Flow:</a:t>
            </a:r>
          </a:p>
          <a:p>
            <a:r>
              <a:rPr lang="en-US" dirty="0"/>
              <a:t>1. Upload image (</a:t>
            </a:r>
            <a:r>
              <a:rPr lang="en-US" dirty="0" err="1"/>
              <a:t>Colab</a:t>
            </a:r>
            <a:r>
              <a:rPr lang="en-US" dirty="0"/>
              <a:t> file UI)</a:t>
            </a:r>
          </a:p>
          <a:p>
            <a:r>
              <a:rPr lang="en-US" dirty="0"/>
              <a:t>2. Select task (dropdown menu)</a:t>
            </a:r>
          </a:p>
          <a:p>
            <a:r>
              <a:rPr lang="en-US" dirty="0"/>
              <a:t>3. For </a:t>
            </a:r>
            <a:r>
              <a:rPr lang="en-US" dirty="0" err="1"/>
              <a:t>inpainting</a:t>
            </a:r>
            <a:r>
              <a:rPr lang="en-US" dirty="0"/>
              <a:t>, upload mask (optional)</a:t>
            </a:r>
          </a:p>
          <a:p>
            <a:r>
              <a:rPr lang="en-US" dirty="0"/>
              <a:t>4. Click "Run Enhancement"</a:t>
            </a:r>
          </a:p>
          <a:p>
            <a:r>
              <a:rPr lang="en-US" dirty="0"/>
              <a:t>5. View before/after comparison</a:t>
            </a:r>
          </a:p>
          <a:p>
            <a:endParaRPr lang="en-US" dirty="0"/>
          </a:p>
          <a:p>
            <a:r>
              <a:rPr lang="en-US" dirty="0"/>
              <a:t>Advantages:</a:t>
            </a:r>
          </a:p>
          <a:p>
            <a:r>
              <a:rPr lang="en-US" dirty="0"/>
              <a:t>✓ One entry point for all tasks</a:t>
            </a:r>
          </a:p>
          <a:p>
            <a:r>
              <a:rPr lang="en-US" dirty="0"/>
              <a:t>✓ Modular, extensible design</a:t>
            </a:r>
          </a:p>
          <a:p>
            <a:r>
              <a:rPr lang="en-US" dirty="0"/>
              <a:t>✓ Easy to test &amp; debug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137" y="675646"/>
            <a:ext cx="825572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Experimental </a:t>
            </a:r>
            <a:r>
              <a:rPr lang="en-US" sz="2800" dirty="0" smtClean="0"/>
              <a:t>Setup And Results</a:t>
            </a:r>
            <a:endParaRPr lang="en-US" sz="2800" dirty="0"/>
          </a:p>
          <a:p>
            <a:endParaRPr lang="en-US" dirty="0"/>
          </a:p>
          <a:p>
            <a:r>
              <a:rPr lang="en-US" dirty="0"/>
              <a:t>Dataset: Beans (Hugging Face)</a:t>
            </a:r>
          </a:p>
          <a:p>
            <a:r>
              <a:rPr lang="en-US" dirty="0"/>
              <a:t>• 128 validation images</a:t>
            </a:r>
          </a:p>
          <a:p>
            <a:r>
              <a:rPr lang="en-US" dirty="0"/>
              <a:t>• Leaf photographs (3 classes)</a:t>
            </a:r>
          </a:p>
          <a:p>
            <a:r>
              <a:rPr lang="en-US" dirty="0"/>
              <a:t>• Synthetic degradation</a:t>
            </a:r>
          </a:p>
          <a:p>
            <a:endParaRPr lang="en-US" dirty="0"/>
          </a:p>
          <a:p>
            <a:r>
              <a:rPr lang="en-US" dirty="0"/>
              <a:t>Metrics:</a:t>
            </a:r>
          </a:p>
          <a:p>
            <a:r>
              <a:rPr lang="en-US" dirty="0"/>
              <a:t>• PSNR (Peak Signal-to-Noise Ratio)</a:t>
            </a:r>
          </a:p>
          <a:p>
            <a:r>
              <a:rPr lang="en-US" dirty="0"/>
              <a:t>  Higher is better: &gt;25 dB = excellent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• SSIM (Structural Similarity Index)</a:t>
            </a:r>
          </a:p>
          <a:p>
            <a:r>
              <a:rPr lang="en-US" dirty="0"/>
              <a:t>  Range [-1, 1]: &gt;0.8 = very good</a:t>
            </a:r>
          </a:p>
          <a:p>
            <a:endParaRPr lang="en-US" dirty="0"/>
          </a:p>
          <a:p>
            <a:r>
              <a:rPr lang="en-US" dirty="0"/>
              <a:t>Synthetic Degradation:</a:t>
            </a:r>
          </a:p>
          <a:p>
            <a:r>
              <a:rPr lang="en-US" dirty="0"/>
              <a:t>• Noisy images: Gaussian noise σ = 25.0</a:t>
            </a:r>
          </a:p>
          <a:p>
            <a:r>
              <a:rPr lang="en-US" dirty="0"/>
              <a:t>• Low-res images: 4× </a:t>
            </a:r>
            <a:r>
              <a:rPr lang="en-US" dirty="0" err="1"/>
              <a:t>downsampling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817" y="1178748"/>
            <a:ext cx="4181007" cy="22959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98571" y="4088674"/>
            <a:ext cx="39057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Interpretation: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Denoising</a:t>
            </a:r>
            <a:r>
              <a:rPr lang="en-US" dirty="0"/>
              <a:t>: Low PSNR (generative, not pixel-exact)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Super-Res: Moderate PSNR (hallucination + upscaling)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Both: Visually coherent &amp; useful outputs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6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508" y="751344"/>
            <a:ext cx="4572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Known Issues</a:t>
            </a:r>
          </a:p>
          <a:p>
            <a:endParaRPr lang="en-US" dirty="0"/>
          </a:p>
          <a:p>
            <a:r>
              <a:rPr lang="en-US" dirty="0"/>
              <a:t>1. Safety Checker</a:t>
            </a:r>
          </a:p>
          <a:p>
            <a:r>
              <a:rPr lang="en-US" dirty="0"/>
              <a:t>   → Flags benign content, returns black images</a:t>
            </a:r>
          </a:p>
          <a:p>
            <a:r>
              <a:rPr lang="en-US" dirty="0"/>
              <a:t>   → Disabled for research use</a:t>
            </a:r>
          </a:p>
          <a:p>
            <a:endParaRPr lang="en-US" dirty="0"/>
          </a:p>
          <a:p>
            <a:r>
              <a:rPr lang="en-US" dirty="0"/>
              <a:t>2. Prompt Sensitivity</a:t>
            </a:r>
          </a:p>
          <a:p>
            <a:r>
              <a:rPr lang="en-US" dirty="0"/>
              <a:t>   → Output quality depends on text prompts</a:t>
            </a:r>
          </a:p>
          <a:p>
            <a:r>
              <a:rPr lang="en-US" dirty="0"/>
              <a:t>   → Suboptimal prompts → poor results</a:t>
            </a:r>
          </a:p>
          <a:p>
            <a:endParaRPr lang="en-US" dirty="0"/>
          </a:p>
          <a:p>
            <a:r>
              <a:rPr lang="en-US" dirty="0"/>
              <a:t>3. Computational Cost</a:t>
            </a:r>
          </a:p>
          <a:p>
            <a:r>
              <a:rPr lang="en-US" dirty="0"/>
              <a:t>   → 30-40 seconds per image (GPU required)</a:t>
            </a:r>
          </a:p>
          <a:p>
            <a:r>
              <a:rPr lang="en-US" dirty="0"/>
              <a:t>   → Not real-time suitable without optimization</a:t>
            </a:r>
          </a:p>
          <a:p>
            <a:endParaRPr lang="en-US" dirty="0"/>
          </a:p>
          <a:p>
            <a:r>
              <a:rPr lang="en-US" dirty="0"/>
              <a:t>4. Semantic Hallucination</a:t>
            </a:r>
          </a:p>
          <a:p>
            <a:r>
              <a:rPr lang="en-US" dirty="0"/>
              <a:t>   → Models may add objects not in original</a:t>
            </a:r>
          </a:p>
          <a:p>
            <a:r>
              <a:rPr lang="en-US" dirty="0"/>
              <a:t>   → Artifacts in ambiguous </a:t>
            </a:r>
            <a:r>
              <a:rPr lang="en-US" dirty="0" err="1"/>
              <a:t>inpainting</a:t>
            </a:r>
            <a:r>
              <a:rPr lang="en-US" dirty="0"/>
              <a:t> scenarios</a:t>
            </a:r>
          </a:p>
        </p:txBody>
      </p:sp>
    </p:spTree>
    <p:extLst>
      <p:ext uri="{BB962C8B-B14F-4D97-AF65-F5344CB8AC3E}">
        <p14:creationId xmlns:p14="http://schemas.microsoft.com/office/powerpoint/2010/main" val="892087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79" y="1409846"/>
            <a:ext cx="858229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Generative vs. Pixel-Exact Restoration</a:t>
            </a:r>
          </a:p>
          <a:p>
            <a:endParaRPr lang="en-US" dirty="0"/>
          </a:p>
          <a:p>
            <a:r>
              <a:rPr lang="en-US" dirty="0"/>
              <a:t>Traditional Approach:        Generative Approach:</a:t>
            </a:r>
          </a:p>
          <a:p>
            <a:r>
              <a:rPr lang="en-US" dirty="0"/>
              <a:t>• Wiener filtering          • Diffusion models</a:t>
            </a:r>
          </a:p>
          <a:p>
            <a:r>
              <a:rPr lang="en-US" dirty="0"/>
              <a:t>• Total variation           • GANs (ESRGAN)</a:t>
            </a:r>
          </a:p>
          <a:p>
            <a:r>
              <a:rPr lang="en-US" dirty="0"/>
              <a:t>• Optimize PSNR/SSIM       • Optimize perceptual quality</a:t>
            </a:r>
          </a:p>
          <a:p>
            <a:r>
              <a:rPr lang="en-US" dirty="0"/>
              <a:t>• Pixel-level fidelity      • Semantic coherence</a:t>
            </a:r>
          </a:p>
          <a:p>
            <a:endParaRPr lang="en-US" dirty="0"/>
          </a:p>
          <a:p>
            <a:r>
              <a:rPr lang="en-US" dirty="0"/>
              <a:t>Implication: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Don't judge generative models by PSNR alone</a:t>
            </a:r>
          </a:p>
          <a:p>
            <a:r>
              <a:rPr lang="en-US" dirty="0"/>
              <a:t>✓ Perceptual metrics (LPIPS, FID) better suited</a:t>
            </a:r>
          </a:p>
          <a:p>
            <a:r>
              <a:rPr lang="en-US" dirty="0"/>
              <a:t>✓ User studies capture real-world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571" y="561703"/>
            <a:ext cx="489857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KEY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7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57225"/>
            <a:ext cx="822960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Key Takeaways</a:t>
            </a:r>
          </a:p>
          <a:p>
            <a:endParaRPr lang="en-US" dirty="0"/>
          </a:p>
          <a:p>
            <a:r>
              <a:rPr lang="en-US" dirty="0"/>
              <a:t>✓ Integrated restoration system (4 tasks)</a:t>
            </a:r>
          </a:p>
          <a:p>
            <a:r>
              <a:rPr lang="en-US" dirty="0"/>
              <a:t>✓ Leverages </a:t>
            </a:r>
            <a:r>
              <a:rPr lang="en-US" dirty="0" err="1"/>
              <a:t>pretrained</a:t>
            </a:r>
            <a:r>
              <a:rPr lang="en-US" dirty="0"/>
              <a:t> Hugging Face models</a:t>
            </a:r>
          </a:p>
          <a:p>
            <a:r>
              <a:rPr lang="en-US" dirty="0"/>
              <a:t>✓ No training from scratch required</a:t>
            </a:r>
          </a:p>
          <a:p>
            <a:r>
              <a:rPr lang="en-US" dirty="0"/>
              <a:t>✓ Practical outputs despite modest PSNR</a:t>
            </a:r>
          </a:p>
          <a:p>
            <a:endParaRPr lang="en-US" dirty="0"/>
          </a:p>
          <a:p>
            <a:r>
              <a:rPr lang="en-US" dirty="0"/>
              <a:t>Paradigm Shift:</a:t>
            </a:r>
          </a:p>
          <a:p>
            <a:r>
              <a:rPr lang="en-US" dirty="0"/>
              <a:t>From classical signal processing</a:t>
            </a:r>
          </a:p>
          <a:p>
            <a:r>
              <a:rPr lang="en-US" dirty="0"/>
              <a:t>→ To learned generative approaches</a:t>
            </a:r>
          </a:p>
          <a:p>
            <a:r>
              <a:rPr lang="en-US" dirty="0"/>
              <a:t>→ Prioritizing perceptual quality &amp; semantics</a:t>
            </a:r>
          </a:p>
          <a:p>
            <a:endParaRPr lang="en-US" dirty="0"/>
          </a:p>
          <a:p>
            <a:r>
              <a:rPr lang="en-US" dirty="0"/>
              <a:t>Impact:</a:t>
            </a:r>
          </a:p>
          <a:p>
            <a:r>
              <a:rPr lang="en-US" dirty="0"/>
              <a:t>• Democratizes image restoration (easy to use)</a:t>
            </a:r>
          </a:p>
          <a:p>
            <a:r>
              <a:rPr lang="en-US" dirty="0"/>
              <a:t>• Powerful pre-trained models available</a:t>
            </a:r>
          </a:p>
          <a:p>
            <a:r>
              <a:rPr lang="en-US" dirty="0"/>
              <a:t>• Extensible for deployment</a:t>
            </a:r>
          </a:p>
          <a:p>
            <a:endParaRPr lang="en-US" dirty="0"/>
          </a:p>
          <a:p>
            <a:r>
              <a:rPr lang="en-US" dirty="0"/>
              <a:t>Next Steps:</a:t>
            </a:r>
          </a:p>
          <a:p>
            <a:r>
              <a:rPr lang="en-US" dirty="0"/>
              <a:t>• Fine-tune on domain-specific data</a:t>
            </a:r>
          </a:p>
          <a:p>
            <a:r>
              <a:rPr lang="en-US" dirty="0"/>
              <a:t>• Perceptual evaluation &amp; user studies</a:t>
            </a:r>
          </a:p>
          <a:p>
            <a:r>
              <a:rPr lang="en-US" dirty="0"/>
              <a:t>• Deployment optimization &amp; scaling</a:t>
            </a:r>
          </a:p>
        </p:txBody>
      </p:sp>
    </p:spTree>
    <p:extLst>
      <p:ext uri="{BB962C8B-B14F-4D97-AF65-F5344CB8AC3E}">
        <p14:creationId xmlns:p14="http://schemas.microsoft.com/office/powerpoint/2010/main" val="4082977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Contribution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770200"/>
              </p:ext>
            </p:extLst>
          </p:nvPr>
        </p:nvGraphicFramePr>
        <p:xfrm>
          <a:off x="568036" y="1445347"/>
          <a:ext cx="8229600" cy="393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49930038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893137694"/>
                    </a:ext>
                  </a:extLst>
                </a:gridCol>
              </a:tblGrid>
              <a:tr h="1238250">
                <a:tc>
                  <a:txBody>
                    <a:bodyPr/>
                    <a:lstStyle/>
                    <a:p>
                      <a:r>
                        <a:rPr lang="en-GB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Contribution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56502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lang="en-GB" dirty="0" err="1" smtClean="0">
                          <a:solidFill>
                            <a:schemeClr val="accent2"/>
                          </a:solidFill>
                        </a:rPr>
                        <a:t>Nitish</a:t>
                      </a:r>
                      <a:r>
                        <a:rPr lang="en-GB" dirty="0" smtClean="0">
                          <a:solidFill>
                            <a:schemeClr val="accent2"/>
                          </a:solidFill>
                        </a:rPr>
                        <a:t> Bhardwaj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Problem</a:t>
                      </a:r>
                      <a:r>
                        <a:rPr lang="en-GB" baseline="0" dirty="0" smtClean="0"/>
                        <a:t> Identification, End to end </a:t>
                      </a:r>
                      <a:r>
                        <a:rPr lang="en-GB" baseline="0" dirty="0" smtClean="0"/>
                        <a:t>Generative </a:t>
                      </a:r>
                      <a:r>
                        <a:rPr lang="en-GB" baseline="0" dirty="0" smtClean="0"/>
                        <a:t>process building including </a:t>
                      </a:r>
                      <a:r>
                        <a:rPr lang="en-GB" baseline="0" dirty="0" smtClean="0"/>
                        <a:t>end to end Model pipeline building, </a:t>
                      </a:r>
                      <a:r>
                        <a:rPr lang="en-GB" baseline="0" dirty="0" smtClean="0"/>
                        <a:t>Report building and Presentation building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050296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2"/>
                          </a:solidFill>
                        </a:rPr>
                        <a:t>Syed Ahmed Ali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Problem</a:t>
                      </a:r>
                      <a:r>
                        <a:rPr lang="en-GB" baseline="0" dirty="0" smtClean="0"/>
                        <a:t> Identification, End to end Generative process building including end to end Model pipeline building, Report building and Presentation building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5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379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13258</TotalTime>
  <Words>1017</Words>
  <Application>Microsoft Office PowerPoint</Application>
  <PresentationFormat>On-screen Show (4:3)</PresentationFormat>
  <Paragraphs>222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- Spam Classification Using Machine Learning</dc:title>
  <dc:subject/>
  <dc:creator>Nitish Bhardwaj</dc:creator>
  <cp:keywords/>
  <dc:description>generated using python-pptx</dc:description>
  <cp:lastModifiedBy>DELL</cp:lastModifiedBy>
  <cp:revision>15</cp:revision>
  <dcterms:created xsi:type="dcterms:W3CDTF">2013-01-27T09:14:16Z</dcterms:created>
  <dcterms:modified xsi:type="dcterms:W3CDTF">2025-12-07T14:35:48Z</dcterms:modified>
  <cp:category/>
</cp:coreProperties>
</file>